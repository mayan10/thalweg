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+mn-lt"/>
              </a:rPr>
              <a:t>BG-CFQS: how often the bound over-promises (budget 0.35)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0000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All decisions</c:v>
                  </c:pt>
                  <c:pt idx="1">
                    <c:v>Lowest 30% of throughput</c:v>
                  </c:pt>
                  <c:pt idx="2">
                    <c:v>Lowest 10% of throughput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0.34</c:v>
                </c:pt>
                <c:pt idx="1">
                  <c:v>0.671</c:v>
                </c:pt>
                <c:pt idx="2">
                  <c:v>0.848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000000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+mn-lt"/>
              </a:rPr>
              <a:t>Critical flows allocated below their minimum (lower is better)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0000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Perfect classification (oracle)</c:v>
                  </c:pt>
                  <c:pt idx="1">
                    <c:v>FlowConX</c:v>
                  </c:pt>
                  <c:pt idx="2">
                    <c:v>Throttle the largest</c:v>
                  </c:pt>
                  <c:pt idx="3">
                    <c:v>Equal share</c:v>
                  </c:pt>
                  <c:pt idx="4">
                    <c:v>Class priority (DiffServ)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0.029</c:v>
                </c:pt>
                <c:pt idx="1">
                  <c:v>0.065</c:v>
                </c:pt>
                <c:pt idx="2">
                  <c:v>0.218</c:v>
                </c:pt>
                <c:pt idx="3">
                  <c:v>0.251</c:v>
                </c:pt>
                <c:pt idx="4">
                  <c:v>0.301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000000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FlowConX forecasts how much a Starlink link can safely carry, and uses that to decide how many sessions to admit, when to raise a congestion alert, and which flow to slow down when capacity is short.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point: the published state of the art controls risk on average but not in the low-capacity moments that matter. That gap motivated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pipeline left to right. The bound produced by Calibrate is the single number every decision is made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Then switch to the live demo: m for the ML monitor, p for flow protection.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phase offset row: three continents, recovered from 1 Hz throughput, against the 12 s published from 500 Hz latency probes.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'Before' is static calibration, or the uncalibrated forecast for availability. The negatives are deliberate: each was measured and is in the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precise about the claim: the mechanisms are published and cited; what is new is the evaluation and what it found, plus coupling flow protection to a calibrated bound.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441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200400"/>
            <a:ext cx="11094415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FlowConX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0000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0000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FlowConX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200400"/>
            <a:ext cx="1109441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Risk-controlled throughput forecasting and bandwidth allocation for Starlink (LEO satellite) access links</a:t>
            </a: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</a:t>
            </a:r>
            <a:endParaRPr lang="en-US" sz="18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Mayan Sharma (23BAI1581)   Kriti Saini (23BCE1520)   Devansh Behl (23BCE1334)</a:t>
            </a:r>
            <a:endParaRPr lang="en-US" sz="18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Guide: Dr. Suganya R, Professor, SCOPE</a:t>
            </a:r>
            <a:endParaRPr lang="en-US" sz="18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Industry mentor: Mr. S. Vijayaragavan, Professor of Practice, Nelco Network Products Ltd.</a:t>
            </a:r>
            <a:endParaRPr lang="en-US" sz="18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School of Computer Science and Engineering, Vellore Institute of Technology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Domain Knowledge and Problem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problem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Starlink capacity changes every 15 s: the network reschedules users at seconds 12, 27, 42 and 57 of each minute, and satellites hand over constantly.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 operator must commit bandwidth before it knows what the link will carry. Over-promise and sessions drop; under-promise and paid capacity sits idle.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Industry brief: predict degradation, detect congestion early, allocate bandwidth automatically. We chain four needs into one system, adding: decide which flow is slowed when capacity is short.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690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Prior work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3484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StarNet (Liu et al., CoNEXT 2025): point forecast of throughput.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BG-CFQS (Xie et al., 2026): safe lower bound from one global quantile.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Casparsen et al. (2026): the 15 s scheduling period. Horizon (SIGMETRICS 2026): global Starlink performance.</a:t>
            </a:r>
            <a:endParaRPr lang="en-US" sz="1400" dirty="0"/>
          </a:p>
        </p:txBody>
      </p:sp>
      <p:graphicFrame>
        <p:nvGraphicFramePr>
          <p:cNvPr id="7" name="BG-CFQS gap chart" descr=""/>
          <p:cNvGraphicFramePr/>
          <p:nvPr/>
        </p:nvGraphicFramePr>
        <p:xfrm>
          <a:off x="6949440" y="1234440"/>
          <a:ext cx="46634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949440" y="53492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Our reproduction of BG-CFQS. The risk is held on average and lost exactly where capacity is lowest, which is where over-allocation drops sessions.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0000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Methodology, Architecture and Technical Design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Data flow: each layer only talks to the one below it, so each can be tested on its own.</a:t>
            </a:r>
            <a:endParaRPr lang="en-US" sz="1400" dirty="0"/>
          </a:p>
        </p:txBody>
      </p:sp>
      <p:sp>
        <p:nvSpPr>
          <p:cNvPr id="4" name="stage Ingest"/>
          <p:cNvSpPr/>
          <p:nvPr/>
        </p:nvSpPr>
        <p:spPr>
          <a:xfrm>
            <a:off x="548640" y="1645920"/>
            <a:ext cx="157276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Ingest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04288"/>
            <a:ext cx="15727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Starlink traces at 1 Hz: throughput, serving satellite, elevation, distance, satellites in view, weather</a:t>
            </a:r>
            <a:endParaRPr lang="en-US" sz="1150" dirty="0"/>
          </a:p>
        </p:txBody>
      </p:sp>
      <p:sp>
        <p:nvSpPr>
          <p:cNvPr id="7" name="arrow 0"/>
          <p:cNvSpPr/>
          <p:nvPr/>
        </p:nvSpPr>
        <p:spPr>
          <a:xfrm>
            <a:off x="2157984" y="1920240"/>
            <a:ext cx="258409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" name="stage State"/>
          <p:cNvSpPr/>
          <p:nvPr/>
        </p:nvSpPr>
        <p:spPr>
          <a:xfrm>
            <a:off x="2452969" y="1645920"/>
            <a:ext cx="157276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52969" y="164592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State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452969" y="2304288"/>
            <a:ext cx="15727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11-feature vectors; 15 s phase recovered by edge detection, not hardcoded</a:t>
            </a:r>
            <a:endParaRPr lang="en-US" sz="1150" dirty="0"/>
          </a:p>
        </p:txBody>
      </p:sp>
      <p:sp>
        <p:nvSpPr>
          <p:cNvPr id="11" name="arrow 1"/>
          <p:cNvSpPr/>
          <p:nvPr/>
        </p:nvSpPr>
        <p:spPr>
          <a:xfrm>
            <a:off x="4062313" y="1920240"/>
            <a:ext cx="258409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" name="stage Forecast"/>
          <p:cNvSpPr/>
          <p:nvPr/>
        </p:nvSpPr>
        <p:spPr>
          <a:xfrm>
            <a:off x="4357299" y="1645920"/>
            <a:ext cx="157276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57299" y="164592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Forecast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357299" y="2304288"/>
            <a:ext cx="15727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StarNet GRU encoder-decoder with periodic embedding and attention; 30 s in, 5 s out</a:t>
            </a:r>
            <a:endParaRPr lang="en-US" sz="1150" dirty="0"/>
          </a:p>
        </p:txBody>
      </p:sp>
      <p:sp>
        <p:nvSpPr>
          <p:cNvPr id="15" name="arrow 2"/>
          <p:cNvSpPr/>
          <p:nvPr/>
        </p:nvSpPr>
        <p:spPr>
          <a:xfrm>
            <a:off x="5966643" y="1920240"/>
            <a:ext cx="258409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stage Calibrate"/>
          <p:cNvSpPr/>
          <p:nvPr/>
        </p:nvSpPr>
        <p:spPr>
          <a:xfrm>
            <a:off x="6261628" y="1645920"/>
            <a:ext cx="157276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61628" y="164592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Calibrate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261628" y="2304288"/>
            <a:ext cx="15727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Point forecast to safe lower bound; online update keeps over-promising at budget ε</a:t>
            </a:r>
            <a:endParaRPr lang="en-US" sz="1150" dirty="0"/>
          </a:p>
        </p:txBody>
      </p:sp>
      <p:sp>
        <p:nvSpPr>
          <p:cNvPr id="19" name="arrow 3"/>
          <p:cNvSpPr/>
          <p:nvPr/>
        </p:nvSpPr>
        <p:spPr>
          <a:xfrm>
            <a:off x="7870972" y="1920240"/>
            <a:ext cx="258409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0" name="stage Decide"/>
          <p:cNvSpPr/>
          <p:nvPr/>
        </p:nvSpPr>
        <p:spPr>
          <a:xfrm>
            <a:off x="8165958" y="1645920"/>
            <a:ext cx="157276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65958" y="164592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Decide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165958" y="2304288"/>
            <a:ext cx="15727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Admission control, congestion alert, and flow protection, all from the one bound</a:t>
            </a:r>
            <a:endParaRPr lang="en-US" sz="1150" dirty="0"/>
          </a:p>
        </p:txBody>
      </p:sp>
      <p:sp>
        <p:nvSpPr>
          <p:cNvPr id="23" name="arrow 4"/>
          <p:cNvSpPr/>
          <p:nvPr/>
        </p:nvSpPr>
        <p:spPr>
          <a:xfrm>
            <a:off x="9775302" y="1920240"/>
            <a:ext cx="258409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4" name="stage Serve"/>
          <p:cNvSpPr/>
          <p:nvPr/>
        </p:nvSpPr>
        <p:spPr>
          <a:xfrm>
            <a:off x="10070287" y="1645920"/>
            <a:ext cx="157276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70287" y="164592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Serve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0070287" y="2304288"/>
            <a:ext cx="15727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FastAPI WebSocket, one decision per second, to a terminal console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37947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Algorithms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16052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Online conformal calibration: after each outcome, α ← α + γ(ε − err), so the bound tracks the budget as the link drifts.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Admission: floor(bound / 10 Mbps) sessions. Congestion: bound below the committed rate for 5 decisions in a row.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Flow protection: criticality scored online from 7 signals (attention, interactivity, elasticity, deadline, irreversibility, volume, recurrence), then the bound is split by weighted max-min fairness with protected minimums.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355080" y="37947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Technical decisions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355080" y="4160520"/>
            <a:ext cx="5303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Temporal train / calibration / test splits. Random splits flatter these models.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The calibration set is used only to set the operating point, never to fit.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Congestion is derived from the bound, not a separate classifier.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 flow is ever cut to zero while capacity remains.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Every run saves its configuration and seed.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0000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Completion, Functionality and Integration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6751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566160"/>
                <a:gridCol w="1005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Module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What it delivers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Status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Throughput forecast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StarNet reproduced on USA, Canada, Germany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Complete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Safe bound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Online calibration at any risk budget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Complete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Admission control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Sessions admitted from the safe bound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Complete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Congestion alert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Early warning from the same bound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Complete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Flow protection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Decides which flow is slowed, never stopped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Complete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Latency, availability, cost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Measured beyond the approved scope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Complete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Live system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ML service and terminal console on real traces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Complete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680960" y="1280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Integration at run time</a:t>
            </a:r>
            <a:endParaRPr lang="en-US" sz="1600" dirty="0"/>
          </a:p>
        </p:txBody>
      </p:sp>
      <p:sp>
        <p:nvSpPr>
          <p:cNvPr id="5" name="runtime 0"/>
          <p:cNvSpPr/>
          <p:nvPr/>
        </p:nvSpPr>
        <p:spPr>
          <a:xfrm>
            <a:off x="7680960" y="169164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0" y="16916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Recorded Starlink trace (real Canada data)</a:t>
            </a:r>
            <a:endParaRPr lang="en-US" sz="1300" dirty="0"/>
          </a:p>
        </p:txBody>
      </p:sp>
      <p:sp>
        <p:nvSpPr>
          <p:cNvPr id="7" name="runtime 1"/>
          <p:cNvSpPr/>
          <p:nvPr/>
        </p:nvSpPr>
        <p:spPr>
          <a:xfrm>
            <a:off x="7680960" y="288036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28803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ML service: forecast, bound, decisions</a:t>
            </a:r>
            <a:endParaRPr lang="en-US" sz="1300" dirty="0"/>
          </a:p>
        </p:txBody>
      </p:sp>
      <p:sp>
        <p:nvSpPr>
          <p:cNvPr id="9" name="runtime 2"/>
          <p:cNvSpPr/>
          <p:nvPr/>
        </p:nvSpPr>
        <p:spPr>
          <a:xfrm>
            <a:off x="7680960" y="406908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0" y="40690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Terminal console: ML monitor and flow protection screens</a:t>
            </a:r>
            <a:endParaRPr lang="en-US" sz="1300" dirty="0"/>
          </a:p>
        </p:txBody>
      </p:sp>
      <p:sp>
        <p:nvSpPr>
          <p:cNvPr id="11" name="runtime arrow 1"/>
          <p:cNvSpPr/>
          <p:nvPr/>
        </p:nvSpPr>
        <p:spPr>
          <a:xfrm>
            <a:off x="9646920" y="2377440"/>
            <a:ext cx="0" cy="50292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" name="runtime arrow 2"/>
          <p:cNvSpPr/>
          <p:nvPr/>
        </p:nvSpPr>
        <p:spPr>
          <a:xfrm>
            <a:off x="9646920" y="3566160"/>
            <a:ext cx="0" cy="50292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9784080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WebSocket, 1 decision/s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680960" y="502920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Runs end to end on a laptop; the replay loops continuously without restarts.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328 automated tests pass on every change.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0000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Testing, Validation and Analysis of Results (1/2)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How it was tested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0292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Reproduce the published baselines first; no new method until both match.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Temporal splits and leave-one-location-out across USA, Canada and Germany, plus a second measurement campaign (WetLinks).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Data loader checked against published sample counts: 145,053 (Canada), 613,295 (Germany), 1,123,832 (USA), all exact.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328 automated tests, including checks that no decision uses future data.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Every number is read from a saved result with its configuration and seed.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035040" y="12344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Reproduction against published results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645920"/>
          <a:ext cx="55778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280160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Check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Published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FlowConX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StarNet RMSE, average (Mbps)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39.30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39.73 (+1.1%)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StarNet MAE, average (Mbps)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29.28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29.97 (+2.4%)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BG-CFQS over-promise rate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0.349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0.340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BG-CFQS, lowest 30%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0.65 to 0.71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0.671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BG-CFQS, lowest 10%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0.83 to 0.86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0.848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15 s phase offset (s)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11.98 / 12.09 / 12.25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035040" y="452628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Both reproduction checks passed. Per-location StarNet gaps scatter in both directions (4.2% to 6.9%), as an independent reimplementation should.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0000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Testing, Validation and Analysis of Results (2/2)</a:t>
            </a:r>
            <a:endParaRPr lang="en-US" sz="3000" dirty="0"/>
          </a:p>
        </p:txBody>
      </p:sp>
      <p:graphicFrame>
        <p:nvGraphicFramePr>
          <p:cNvPr id="3" name="protection chart" descr=""/>
          <p:cNvGraphicFramePr/>
          <p:nvPr/>
        </p:nvGraphicFramePr>
        <p:xfrm>
          <a:off x="548640" y="1188720"/>
          <a:ext cx="55778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30352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Canada link, 2x load, 5 workload seeds. Critical transfers that gave up: 0.3% with FlowConX against 12.1% when the largest flow is throttled first. Capacity is measured; flows are simulated.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Key results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645920"/>
          <a:ext cx="51206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Measure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Before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FlowConX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Risk budget held (throughput)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16% to 21% off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within 1%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Availability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about 1.2 nines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about 2.1 nines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Number of outages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baseline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 to 6x fewer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Latency budget 0.10 held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0.033 to 0.313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0.088 to 0.101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492240" y="37947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did not work, reported as found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492240" y="416052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Conditioning on satellite geometry did not improve risk control on StarNet.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Congestion alerts fire early but are noisy (F1 0.46).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The scorer cannot tell a video call from a video stream (precision 0.71).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BG-CFQS cannot serve budgets below 0.15 (3.7x overshoot at 0.05).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0000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Innovation, Technical Merit and Practical Relevance</a:t>
            </a:r>
            <a:endParaRPr lang="en-US" sz="3000" dirty="0"/>
          </a:p>
        </p:txBody>
      </p:sp>
      <p:sp>
        <p:nvSpPr>
          <p:cNvPr id="3" name="pillar Contribution"/>
          <p:cNvSpPr/>
          <p:nvPr/>
        </p:nvSpPr>
        <p:spPr>
          <a:xfrm>
            <a:off x="548640" y="1188720"/>
            <a:ext cx="3515258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98448"/>
            <a:ext cx="3149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Contribution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91640"/>
            <a:ext cx="314949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First evaluation of risk-controlled capacity forecasting on LEO links: 4 datasets, 2 measurement campaigns.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Showed BG-CFQS needs exchangeable data and has a budget floor.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Flow protection splits the safe bound, so a reserved minimum is a promise that can be checked.</a:t>
            </a:r>
            <a:endParaRPr lang="en-US" sz="1400" dirty="0"/>
          </a:p>
        </p:txBody>
      </p:sp>
      <p:sp>
        <p:nvSpPr>
          <p:cNvPr id="6" name="pillar Feasibility"/>
          <p:cNvSpPr/>
          <p:nvPr/>
        </p:nvSpPr>
        <p:spPr>
          <a:xfrm>
            <a:off x="4338218" y="1188720"/>
            <a:ext cx="3515258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1098" y="1298448"/>
            <a:ext cx="3149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Feasibility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21098" y="1691640"/>
            <a:ext cx="314949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Runs on a laptop: CPU, CUDA or Apple MPS.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The demo model trains in about 75 s and decides once per second.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Uses only data a terminal has at prediction time.</a:t>
            </a:r>
            <a:endParaRPr lang="en-US" sz="1400" dirty="0"/>
          </a:p>
        </p:txBody>
      </p:sp>
      <p:sp>
        <p:nvSpPr>
          <p:cNvPr id="9" name="pillar Ethical responsibility"/>
          <p:cNvSpPr/>
          <p:nvPr/>
        </p:nvSpPr>
        <p:spPr>
          <a:xfrm>
            <a:off x="8127797" y="1188720"/>
            <a:ext cx="3515258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10677" y="1298448"/>
            <a:ext cx="3149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Ethical responsibility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310677" y="1691640"/>
            <a:ext cx="314949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Public measurement traces; no personal data.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Simulated flows are labelled as simulated on screen.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 flow is stopped while capacity remains; self-declared priority is not trusted blindly.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Failures and withdrawn claims are reported.</a:t>
            </a:r>
            <a:endParaRPr lang="en-US" sz="1400" dirty="0"/>
          </a:p>
        </p:txBody>
      </p:sp>
      <p:sp>
        <p:nvSpPr>
          <p:cNvPr id="12" name="industry box"/>
          <p:cNvSpPr/>
          <p:nvPr/>
        </p:nvSpPr>
        <p:spPr>
          <a:xfrm>
            <a:off x="548640" y="4526280"/>
            <a:ext cx="11094415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617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Industry validation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983480"/>
            <a:ext cx="107286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Demonstrated live to Mr. S. Vijayaragavan, Professor of Practice, Nelco Network Products Ltd., who was very impressed with the system.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He set the problem statement and co-authored our paper with us, prepared for submission to ACM SIGMETRICS 2027.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Practical use: satellite operators can commit bandwidth at a stated risk and keep critical traffic, such as a hospital upload, running when the link is short.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0000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owConX Mono">
  <a:themeElements>
    <a:clrScheme name="FlowConX Mono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0000"/>
      </a:accent1>
      <a:accent2>
        <a:srgbClr val="595959"/>
      </a:accent2>
      <a:accent3>
        <a:srgbClr val="808080"/>
      </a:accent3>
      <a:accent4>
        <a:srgbClr val="A6A6A6"/>
      </a:accent4>
      <a:accent5>
        <a:srgbClr val="404040"/>
      </a:accent5>
      <a:accent6>
        <a:srgbClr val="BFBFBF"/>
      </a:accent6>
      <a:hlink>
        <a:srgbClr val="000000"/>
      </a:hlink>
      <a:folHlink>
        <a:srgbClr val="000000"/>
      </a:folHlink>
    </a:clrScheme>
    <a:fontScheme name="FlowConX Mo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FlowConX</dc:title>
  <dc:subject>PptxGenJS Presentation</dc:subject>
  <dc:creator>Mayan Sharma, Kriti Saini, Devansh Behl</dc:creator>
  <cp:lastModifiedBy>Mayan Sharma, Kriti Saini, Devansh Behl</cp:lastModifiedBy>
  <cp:revision>1</cp:revision>
  <dcterms:created xsi:type="dcterms:W3CDTF">2026-10-20T18:22:22Z</dcterms:created>
  <dcterms:modified xsi:type="dcterms:W3CDTF">2026-10-20T18:22:22Z</dcterms:modified>
</cp:coreProperties>
</file>